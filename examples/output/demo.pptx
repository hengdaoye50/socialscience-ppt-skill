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预警事项</c:v>
                </c:pt>
              </c:strCache>
            </c:strRef>
          </c:tx>
          <c:spPr>
            <a:solidFill>
              <a:srgbClr val="7E0C6E"/>
            </a:solidFill>
            <a:ln>
              <a:solidFill>
                <a:srgbClr val="7E0C6E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</c:v>
                </c:pt>
                <c:pt idx="1">
                  <c:v>16</c:v>
                </c:pt>
                <c:pt idx="2">
                  <c:v>14</c:v>
                </c:pt>
                <c:pt idx="3">
                  <c:v>22</c:v>
                </c:pt>
                <c:pt idx="4">
                  <c:v>25</c:v>
                </c:pt>
                <c:pt idx="5">
                  <c:v>29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已落实准备事项</c:v>
                </c:pt>
              </c:strCache>
            </c:strRef>
          </c:tx>
          <c:spPr>
            <a:solidFill>
              <a:srgbClr val="AD879F"/>
            </a:solidFill>
            <a:ln>
              <a:solidFill>
                <a:srgbClr val="AD879F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</c:v>
                </c:pt>
                <c:pt idx="1">
                  <c:v>10</c:v>
                </c:pt>
                <c:pt idx="2">
                  <c:v>13</c:v>
                </c:pt>
                <c:pt idx="3">
                  <c:v>17</c:v>
                </c:pt>
                <c:pt idx="4">
                  <c:v>19</c:v>
                </c:pt>
                <c:pt idx="5">
                  <c:v>24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{"type": "cover", "title": "技术预见如何转化为组织行动？", "subtitle": "从风险表征、共同研判到协同响应的机制探索（合成演示）", "kicker": "ACADEMIC PPT SKILL / 原创中文学术母版", "author": "Academic PPT Skill · 测试演示", "affiliation": "全部图表与材料为合成示例，不代表真实研究结论", "date": "2026年10月"}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{"type": "section", "number": "01", "title": "从经验现象出发", "lead": "明确值得解释的现象与潜在的理论张力"}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{"type": "question", "title": "问题的提出", "context": "在复杂治理场景中，技术系统可以提前生成风险表征，但提前知道并不自动等于提前采取行动。", "question": "技术预见何以转化为跨组织的集体行动？", "significance": "解释技术条件与组织能力之间的转化过程。"}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{"type": "tension", "title": "经验现象为何构成研究问题？", "expectation": "预测越早，组织响应就应当越充分。", "observation": "预测提前量可能停留在技术层面，未能同步转化为职责分配和资源准备。", "puzzle": "为什么认知优势未必自动转化为行动优势？"}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{"type": "literature", "title": "现有解释与研究缺口", "groups": [{"heading": "技术能力视角", "claim": "强调预测准确性、数据整合和模型性能。", "authors": "示意分类，非真实文献归纳"}, {"heading": "组织协调视角", "claim": "重视权责关系、任务分配与跨部门协作。", "authors": "示意分类，非真实文献归纳"}, {"heading": "认知实践视角", "claim": "关注信息如何在具体情境中被解释与使用。", "authors": "示意分类，非真实文献归纳"}], "gap": "需要解释从风险表征到组织行动之间的连续转换。"}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{"type": "argument", "title": "本文的解释性命题", "claim": "技术预见需要经由共同理解、权威确认与任务转译，才能沉淀为协同治理能力。", "reasons": [{"title": "共同表征", "body": "把异质信息转化为可讨论的风险图景。"}, {"title": "组织研判", "body": "将专业判断接入正式的决策程序。"}, {"title": "行动转译", "body": "把预测提前量拆分为具体责任与准备任务。"}], "implication": "须考察衔接环节，而不能只评价预测模型本身。"}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{"type": "mechanism", "title": "从预测到行动：机制示意", "nodes": [{"id": "data", "label": "多源信息", "detail": "观测与模型", "layer": 0}, {"id": "risk", "label": "风险表征", "detail": "未来情景", "layer": 1}, {"id": "review", "label": "联合研判", "detail": "人机校验", "layer": 2}, {"id": "decision", "label": "权威确认", "detail": "正式裁定", "layer": 3}, {"id": "action", "label": "协同行动", "detail": "任务与资源", "layer": 4}], "edges": [{"source": "data", "target": "risk", "kind": "temporal", "label": "输入"}, {"source": "risk", "target": "review", "kind": "association", "label": "讨论"}, {"source": "review", "target": "decision", "kind": "organizational", "label": "建议"}, {"source": "decision", "target": "action", "kind": "organizational", "label": "部署"}], "note": "合成概念图，关系类型仅用于展示图示能力。"}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{"type": "process", "title": "过程追踪：五个关键环节", "steps": [{"time": "阶段 1", "title": "信息汇集", "detail": "形成多源信息基础。", "actor": "技术部门"}, {"time": "阶段 2", "title": "情景推演", "detail": "表达不同未来风险。", "actor": "分析部门"}, {"time": "阶段 3", "title": "专业研判", "detail": "识别偏差和决策条件。", "actor": "专家与业务方"}, {"time": "阶段 4", "title": "正式裁定", "detail": "确认权限与行动边界。", "actor": "决策部门"}, {"time": "阶段 5", "title": "任务落实", "detail": "分配职责与资源。", "actor": "执行部门"}], "takeaway": "研究重点是转换过程，而非单个工具的性能。"}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{"type": "design", "title": "研究设计如何组织？", "case": "以典型场景的治理过程作为分析单位。", "materials": "访谈、公开文献、过程材料与规范性文件（示意）。", "strategy": "过程追踪、材料互证、解释性分析。", "limitations": "样例未使用真实案例，不进行经验结论推断。", "question": "信息如何转化为具有行动后果的组织判断？"}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{"type": "chart", "title": "原生数据图表演示（合成数据）", "chart_type": "line", "categories": ["1月", "2月", "3月", "4月", "5月", "6月"], "series": [{"name": "预警事项", "values": [12, 16, 14, 22, 25, 29]}, {"name": "已落实准备事项", "values": [8, 10, 13, 17, 19, 24]}], "source": "合成示例数据，不可作为经验依据", "insight": "此页仅用于演示可编辑的 PowerPoint 原生数据图表。"}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{"type": "estimate", "title": "区间估计展示（合成数据，95% CI）", "items": [{"name": "模型 A", "estimate": 0.28, "low": 0.1, "high": 0.46}, {"name": "模型 B", "estimate": 0.16, "low": -0.04, "high": 0.36}, {"name": "模型 C", "estimate": 0.43, "low": 0.2, "high": 0.66}, {"name": "模型 D", "estimate": -0.06, "low": -0.25, "high": 0.13}], "xmin": -0.4, "xmax": 0.8, "reference": 0, "xlabel": "合成系数点估计及 95% 置信区间", "source": "合成示例数据，仅用于说明视觉结构"}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{"type": "table", "title": "研究材料矩阵（示意）", "headers": ["证据类型", "承担功能", "可核查内容", "解释边界"], "rows": [["公开文件", "制度背景", "正式权限与职责", "不代表真实执行"], ["过程材料", "关键节点", "时间与行动记录", "可能存在选择性"], ["访谈材料", "意义建构", "行动者的理解", "需要交叉验证"], ["模型输出", "情景表征", "预测条件与误差", "不能代替裁定"]], "highlight_rows": [2], "note": "本表展示原生可编辑表格，内容仅为研究设计示意。", "source": "方法论示例，非已完成的实证调查"}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{"type": "evidence", "title": "关键材料如何进入演示？", "excerpt": "这是一段用于检查中文引文排版、材料来源标识和证据解释关系的合成文本。", "source": "完全虚构的排版测试材料；不得作为真实引文", "interpretation": "应区分材料原文、研究者解释与可支持的结论。"}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{"type": "image", "title": "研究图片版式及标注规则", "caption": "图：技术、研判与行动的示意关系（合成测试图，不是田野照片或实测数据）", "source": "由本项目生成的 synthetic_demo.png；允许随示例分发"}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{"type": "conclusion", "title": "总结：从技术效果走向治理解释", "findings": ["研究应识别预测结果进入组织决策的具体过程。", "风险表征能否转化为行动，取决于后续组织机制。", "可编辑图示必须保留概念之间真实的关系语义。"], "contribution": "把学术表达结构与 PPT 设计系统对应起来。", "limitations": "此文件只展示 Skill 能力，不提供真实研究发现。"}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{"type": "closing", "takeaway": "让视觉服务论证，让每一页都有清晰的学术任务。", "thanks": "谢谢，欢迎批评指正。", "contact": "Academic PPT Skill · v0.1.0"}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7E0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4944" y="658368"/>
            <a:ext cx="566928" cy="64008"/>
          </a:xfrm>
          <a:prstGeom prst="rect">
            <a:avLst/>
          </a:prstGeom>
          <a:solidFill>
            <a:srgbClr val="7E0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978408"/>
            <a:ext cx="9692640" cy="329184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7E0C6E"/>
                </a:solidFill>
                <a:latin typeface="Noto Sans CJK SC"/>
              </a:rPr>
              <a:t>ACADEMIC PPT SKILL / 原创中文学术母版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1728216"/>
            <a:ext cx="10835640" cy="1325880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242424"/>
                </a:solidFill>
                <a:latin typeface="Noto Sans CJK SC"/>
              </a:rPr>
              <a:t>技术预见如何转化为组织行动？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" y="3346704"/>
            <a:ext cx="10698480" cy="786384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43243E"/>
                </a:solidFill>
                <a:latin typeface="Noto Sans CJK SC"/>
              </a:rPr>
              <a:t>从风险表征、共同研判到协同响应的机制探索（合成演示）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22376" y="5047488"/>
            <a:ext cx="10652760" cy="0"/>
          </a:xfrm>
          <a:prstGeom prst="line">
            <a:avLst/>
          </a:prstGeom>
          <a:ln w="13970">
            <a:solidFill>
              <a:srgbClr val="E6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49808" y="5303520"/>
            <a:ext cx="9144000" cy="347472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04040"/>
                </a:solidFill>
                <a:latin typeface="Noto Sans CJK SC"/>
              </a:rPr>
              <a:t>Academic PPT Skill · 测试演示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5687568"/>
            <a:ext cx="10058400" cy="310896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9666A"/>
                </a:solidFill>
                <a:latin typeface="Noto Sans CJK SC"/>
              </a:rPr>
              <a:t>全部图表与材料为合成示例，不代表真实研究结论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08192"/>
            <a:ext cx="5486400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9666A"/>
                </a:solidFill>
                <a:latin typeface="Noto Sans CJK SC"/>
              </a:rPr>
              <a:t>2026年10月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0736" y="5276088"/>
            <a:ext cx="932688" cy="932688"/>
          </a:xfrm>
          <a:prstGeom prst="roundRect">
            <a:avLst>
              <a:gd name="adj" fmla="val 11000"/>
            </a:avLst>
          </a:prstGeom>
          <a:solidFill>
            <a:srgbClr val="F3E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16184" y="5577840"/>
            <a:ext cx="658368" cy="265176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E0C6E"/>
                </a:solidFill>
                <a:latin typeface="Noto Sans CJK SC"/>
              </a:rPr>
              <a:t>研 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7512" y="1362456"/>
            <a:ext cx="82296" cy="3209544"/>
          </a:xfrm>
          <a:prstGeom prst="rect">
            <a:avLst/>
          </a:prstGeom>
          <a:solidFill>
            <a:srgbClr val="7E0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41832" y="1207008"/>
            <a:ext cx="2286000" cy="1170432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>
                <a:solidFill>
                  <a:srgbClr val="7E0C6E"/>
                </a:solidFill>
                <a:latin typeface="Noto Sans CJK S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" y="2743200"/>
            <a:ext cx="9966960" cy="822960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242424"/>
                </a:solidFill>
                <a:latin typeface="Noto Sans CJK SC"/>
              </a:rPr>
              <a:t>从经验现象出发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1" y="3794760"/>
            <a:ext cx="932688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04040"/>
                </a:solidFill>
                <a:latin typeface="Noto Sans CJK SC"/>
              </a:rPr>
              <a:t>明确值得解释的现象与潜在的理论张力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21792" y="347472"/>
            <a:ext cx="73152" cy="429768"/>
          </a:xfrm>
          <a:prstGeom prst="rect">
            <a:avLst/>
          </a:prstGeom>
          <a:solidFill>
            <a:srgbClr val="7E0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38328"/>
            <a:ext cx="10607040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42424"/>
                </a:solidFill>
                <a:latin typeface="Noto Sans CJK SC"/>
              </a:rPr>
              <a:t>问题的提出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1069848"/>
            <a:ext cx="10948111" cy="0"/>
          </a:xfrm>
          <a:prstGeom prst="line">
            <a:avLst/>
          </a:prstGeom>
          <a:ln w="10160">
            <a:solidFill>
              <a:srgbClr val="E6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115568"/>
            <a:ext cx="8503920" cy="201168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E0C6E"/>
                </a:solidFill>
                <a:latin typeface="Noto Sans CJK SC"/>
              </a:rPr>
              <a:t>RESEARCH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9344"/>
            <a:ext cx="4663440" cy="393192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E0C6E"/>
                </a:solidFill>
                <a:latin typeface="Noto Sans CJK SC"/>
              </a:rPr>
              <a:t>经验观察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" y="2103120"/>
            <a:ext cx="5029200" cy="2377440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404040"/>
                </a:solidFill>
                <a:latin typeface="Noto Sans CJK SC"/>
              </a:rPr>
              <a:t>在复杂治理场景中，技术系统可以提前生成风险表征，但提前知道并不自动等于提前采取行动。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581912"/>
            <a:ext cx="5285232" cy="3566160"/>
          </a:xfrm>
          <a:prstGeom prst="roundRect">
            <a:avLst>
              <a:gd name="adj" fmla="val 11000"/>
            </a:avLst>
          </a:prstGeom>
          <a:solidFill>
            <a:srgbClr val="F3E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929384"/>
            <a:ext cx="4480560" cy="356616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E0C6E"/>
                </a:solidFill>
                <a:latin typeface="Noto Sans CJK SC"/>
              </a:rPr>
              <a:t>需要解释的问题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633472"/>
            <a:ext cx="4572000" cy="1508760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43243E"/>
                </a:solidFill>
                <a:latin typeface="Noto Sans CJK SC"/>
              </a:rPr>
              <a:t>技术预见何以转化为跨组织的集体行动？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5413248"/>
            <a:ext cx="10515600" cy="530352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04040"/>
                </a:solidFill>
                <a:latin typeface="Noto Sans CJK SC"/>
              </a:rPr>
              <a:t>为何重要：解释技术条件与组织能力之间的转化过程。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21792" y="6419088"/>
            <a:ext cx="10948111" cy="0"/>
          </a:xfrm>
          <a:prstGeom prst="line">
            <a:avLst/>
          </a:prstGeom>
          <a:ln w="8890">
            <a:solidFill>
              <a:srgbClr val="E6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21792" y="6469380"/>
            <a:ext cx="69494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9666A"/>
                </a:solidFill>
                <a:latin typeface="Noto Sans CJK SC"/>
              </a:rPr>
              <a:t>中文社会科学演示设计系统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464808"/>
            <a:ext cx="859536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9666A"/>
                </a:solidFill>
                <a:latin typeface="Noto Sans CJK SC"/>
              </a:rPr>
              <a:t>03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21792" y="347472"/>
            <a:ext cx="73152" cy="429768"/>
          </a:xfrm>
          <a:prstGeom prst="rect">
            <a:avLst/>
          </a:prstGeom>
          <a:solidFill>
            <a:srgbClr val="7E0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38328"/>
            <a:ext cx="10607040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42424"/>
                </a:solidFill>
                <a:latin typeface="Noto Sans CJK SC"/>
              </a:rPr>
              <a:t>经验现象为何构成研究问题？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1069848"/>
            <a:ext cx="10948111" cy="0"/>
          </a:xfrm>
          <a:prstGeom prst="line">
            <a:avLst/>
          </a:prstGeom>
          <a:ln w="10160">
            <a:solidFill>
              <a:srgbClr val="E6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115568"/>
            <a:ext cx="8503920" cy="201168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E0C6E"/>
                </a:solidFill>
                <a:latin typeface="Noto Sans CJK SC"/>
              </a:rPr>
              <a:t>RESEARCH PUZZLE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120640" cy="2779776"/>
          </a:xfrm>
          <a:prstGeom prst="roundRect">
            <a:avLst>
              <a:gd name="adj" fmla="val 11000"/>
            </a:avLst>
          </a:prstGeom>
          <a:solidFill>
            <a:srgbClr val="F3E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55648"/>
            <a:ext cx="411480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E0C6E"/>
                </a:solidFill>
                <a:latin typeface="Noto Sans CJK S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08176" y="1719072"/>
            <a:ext cx="4288536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3243E"/>
                </a:solidFill>
                <a:latin typeface="Noto Sans CJK SC"/>
              </a:rPr>
              <a:t>理论预期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240280"/>
            <a:ext cx="4700016" cy="2029968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04040"/>
                </a:solidFill>
                <a:latin typeface="Noto Sans CJK SC"/>
              </a:rPr>
              <a:t>预测越早，组织响应就应当越充分。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600200"/>
            <a:ext cx="5120640" cy="2779776"/>
          </a:xfrm>
          <a:prstGeom prst="roundRect">
            <a:avLst>
              <a:gd name="adj" fmla="val 11000"/>
            </a:avLst>
          </a:prstGeom>
          <a:solidFill>
            <a:srgbClr val="F3E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55648"/>
            <a:ext cx="411480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E0C6E"/>
                </a:solidFill>
                <a:latin typeface="Noto Sans CJK S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67728" y="1719072"/>
            <a:ext cx="4288536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3243E"/>
                </a:solidFill>
                <a:latin typeface="Noto Sans CJK SC"/>
              </a:rPr>
              <a:t>经验发现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1384" y="2240280"/>
            <a:ext cx="4700016" cy="2029968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04040"/>
                </a:solidFill>
                <a:latin typeface="Noto Sans CJK SC"/>
              </a:rPr>
              <a:t>预测提前量可能停留在技术层面，未能同步转化为职责分配和资源准备。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71616" y="2871216"/>
            <a:ext cx="18288" cy="0"/>
          </a:xfrm>
          <a:prstGeom prst="line">
            <a:avLst/>
          </a:prstGeom>
          <a:ln w="22860">
            <a:solidFill>
              <a:srgbClr val="7E0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40664" y="4764024"/>
            <a:ext cx="10661904" cy="1014984"/>
          </a:xfrm>
          <a:prstGeom prst="roundRect">
            <a:avLst>
              <a:gd name="adj" fmla="val 11000"/>
            </a:avLst>
          </a:prstGeom>
          <a:solidFill>
            <a:srgbClr val="43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5020056"/>
            <a:ext cx="10021824" cy="521207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</a:rPr>
              <a:t>为什么认知优势未必自动转化为行动优势？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1792" y="6419088"/>
            <a:ext cx="10948111" cy="0"/>
          </a:xfrm>
          <a:prstGeom prst="line">
            <a:avLst/>
          </a:prstGeom>
          <a:ln w="8890">
            <a:solidFill>
              <a:srgbClr val="E6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1792" y="6469380"/>
            <a:ext cx="69494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9666A"/>
                </a:solidFill>
                <a:latin typeface="Noto Sans CJK SC"/>
              </a:rPr>
              <a:t>中文社会科学演示设计系统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464808"/>
            <a:ext cx="859536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9666A"/>
                </a:solidFill>
                <a:latin typeface="Noto Sans CJK SC"/>
              </a:rPr>
              <a:t>04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21792" y="347472"/>
            <a:ext cx="73152" cy="429768"/>
          </a:xfrm>
          <a:prstGeom prst="rect">
            <a:avLst/>
          </a:prstGeom>
          <a:solidFill>
            <a:srgbClr val="7E0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38328"/>
            <a:ext cx="10607040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42424"/>
                </a:solidFill>
                <a:latin typeface="Noto Sans CJK SC"/>
              </a:rPr>
              <a:t>现有解释与研究缺口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1069848"/>
            <a:ext cx="10948111" cy="0"/>
          </a:xfrm>
          <a:prstGeom prst="line">
            <a:avLst/>
          </a:prstGeom>
          <a:ln w="10160">
            <a:solidFill>
              <a:srgbClr val="E6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115568"/>
            <a:ext cx="8503920" cy="201168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E0C6E"/>
                </a:solidFill>
                <a:latin typeface="Noto Sans CJK SC"/>
              </a:rPr>
              <a:t>LITERATURE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" y="1572768"/>
            <a:ext cx="3462528" cy="3337560"/>
          </a:xfrm>
          <a:prstGeom prst="roundRect">
            <a:avLst>
              <a:gd name="adj" fmla="val 11000"/>
            </a:avLst>
          </a:prstGeom>
          <a:solidFill>
            <a:srgbClr val="F3E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0664" y="1572768"/>
            <a:ext cx="3462528" cy="77724"/>
          </a:xfrm>
          <a:prstGeom prst="rect">
            <a:avLst/>
          </a:prstGeom>
          <a:solidFill>
            <a:srgbClr val="7E0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3133344" cy="466344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3243E"/>
                </a:solidFill>
                <a:latin typeface="Noto Sans CJK SC"/>
              </a:rPr>
              <a:t>技术能力视角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487168"/>
            <a:ext cx="3133344" cy="1627632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04040"/>
                </a:solidFill>
                <a:latin typeface="Noto Sans CJK SC"/>
              </a:rPr>
              <a:t>强调预测准确性、数据整合和模型性能。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4315968"/>
            <a:ext cx="3133344" cy="384048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9666A"/>
                </a:solidFill>
                <a:latin typeface="Noto Sans CJK SC"/>
              </a:rPr>
              <a:t>示意分类，非真实文献归纳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8640" y="1572768"/>
            <a:ext cx="3462528" cy="3337560"/>
          </a:xfrm>
          <a:prstGeom prst="roundRect">
            <a:avLst>
              <a:gd name="adj" fmla="val 11000"/>
            </a:avLst>
          </a:prstGeom>
          <a:solidFill>
            <a:srgbClr val="F3E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58640" y="1572768"/>
            <a:ext cx="3462528" cy="77724"/>
          </a:xfrm>
          <a:prstGeom prst="rect">
            <a:avLst/>
          </a:prstGeom>
          <a:solidFill>
            <a:srgbClr val="7E0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3232" y="1828800"/>
            <a:ext cx="3133344" cy="466344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3243E"/>
                </a:solidFill>
                <a:latin typeface="Noto Sans CJK SC"/>
              </a:rPr>
              <a:t>组织协调视角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3232" y="2487168"/>
            <a:ext cx="3133344" cy="1627632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04040"/>
                </a:solidFill>
                <a:latin typeface="Noto Sans CJK SC"/>
              </a:rPr>
              <a:t>重视权责关系、任务分配与跨部门协作。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3232" y="4315968"/>
            <a:ext cx="3133344" cy="384048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9666A"/>
                </a:solidFill>
                <a:latin typeface="Noto Sans CJK SC"/>
              </a:rPr>
              <a:t>示意分类，非真实文献归纳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76615" y="1572768"/>
            <a:ext cx="3462528" cy="3337560"/>
          </a:xfrm>
          <a:prstGeom prst="roundRect">
            <a:avLst>
              <a:gd name="adj" fmla="val 11000"/>
            </a:avLst>
          </a:prstGeom>
          <a:solidFill>
            <a:srgbClr val="F3E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76615" y="1572768"/>
            <a:ext cx="3462528" cy="77724"/>
          </a:xfrm>
          <a:prstGeom prst="rect">
            <a:avLst/>
          </a:prstGeom>
          <a:solidFill>
            <a:srgbClr val="7E0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41207" y="1828800"/>
            <a:ext cx="3133344" cy="466344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3243E"/>
                </a:solidFill>
                <a:latin typeface="Noto Sans CJK SC"/>
              </a:rPr>
              <a:t>认知实践视角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41207" y="2487168"/>
            <a:ext cx="3133344" cy="1627632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04040"/>
                </a:solidFill>
                <a:latin typeface="Noto Sans CJK SC"/>
              </a:rPr>
              <a:t>关注信息如何在具体情境中被解释与使用。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41207" y="4315968"/>
            <a:ext cx="3133344" cy="384048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9666A"/>
                </a:solidFill>
                <a:latin typeface="Noto Sans CJK SC"/>
              </a:rPr>
              <a:t>示意分类，非真实文献归纳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2" y="5248656"/>
            <a:ext cx="10671048" cy="59436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0160">
            <a:solidFill>
              <a:srgbClr val="7E0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5404104"/>
            <a:ext cx="1014984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43243E"/>
                </a:solidFill>
                <a:latin typeface="Noto Sans CJK SC"/>
              </a:rPr>
              <a:t>解释缺口  /  需要解释从风险表征到组织行动之间的连续转换。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21792" y="6419088"/>
            <a:ext cx="10948111" cy="0"/>
          </a:xfrm>
          <a:prstGeom prst="line">
            <a:avLst/>
          </a:prstGeom>
          <a:ln w="8890">
            <a:solidFill>
              <a:srgbClr val="E6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21792" y="6469380"/>
            <a:ext cx="69494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9666A"/>
                </a:solidFill>
                <a:latin typeface="Noto Sans CJK SC"/>
              </a:rPr>
              <a:t>中文社会科学演示设计系统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464808"/>
            <a:ext cx="859536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9666A"/>
                </a:solidFill>
                <a:latin typeface="Noto Sans CJK SC"/>
              </a:rPr>
              <a:t>05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21792" y="347472"/>
            <a:ext cx="73152" cy="429768"/>
          </a:xfrm>
          <a:prstGeom prst="rect">
            <a:avLst/>
          </a:prstGeom>
          <a:solidFill>
            <a:srgbClr val="7E0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38328"/>
            <a:ext cx="10607040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42424"/>
                </a:solidFill>
                <a:latin typeface="Noto Sans CJK SC"/>
              </a:rPr>
              <a:t>本文的解释性命题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1069848"/>
            <a:ext cx="10948111" cy="0"/>
          </a:xfrm>
          <a:prstGeom prst="line">
            <a:avLst/>
          </a:prstGeom>
          <a:ln w="10160">
            <a:solidFill>
              <a:srgbClr val="E6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115568"/>
            <a:ext cx="8503920" cy="201168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E0C6E"/>
                </a:solidFill>
                <a:latin typeface="Noto Sans CJK SC"/>
              </a:rPr>
              <a:t>CORE ARGUMENT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" y="1572768"/>
            <a:ext cx="10698480" cy="1161288"/>
          </a:xfrm>
          <a:prstGeom prst="roundRect">
            <a:avLst>
              <a:gd name="adj" fmla="val 11000"/>
            </a:avLst>
          </a:prstGeom>
          <a:solidFill>
            <a:srgbClr val="43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4" y="1865376"/>
            <a:ext cx="10058400" cy="576072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Noto Sans CJK SC"/>
              </a:rPr>
              <a:t>技术预见需要经由共同理解、权威确认与任务转译，才能沉淀为协同治理能力。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3081528"/>
            <a:ext cx="3447287" cy="2249424"/>
          </a:xfrm>
          <a:prstGeom prst="roundRect">
            <a:avLst>
              <a:gd name="adj" fmla="val 11000"/>
            </a:avLst>
          </a:prstGeom>
          <a:solidFill>
            <a:srgbClr val="F3E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3236976"/>
            <a:ext cx="411480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E0C6E"/>
                </a:solidFill>
                <a:latin typeface="Noto Sans CJK S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3200400"/>
            <a:ext cx="2615183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43243E"/>
                </a:solidFill>
                <a:latin typeface="Noto Sans CJK SC"/>
              </a:rPr>
              <a:t>共同表征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721608"/>
            <a:ext cx="3026663" cy="1499616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04040"/>
                </a:solidFill>
                <a:latin typeface="Noto Sans CJK SC"/>
              </a:rPr>
              <a:t>把异质信息转化为可讨论的风险图景。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1" y="3081528"/>
            <a:ext cx="3447287" cy="2249424"/>
          </a:xfrm>
          <a:prstGeom prst="roundRect">
            <a:avLst>
              <a:gd name="adj" fmla="val 11000"/>
            </a:avLst>
          </a:prstGeom>
          <a:solidFill>
            <a:srgbClr val="F3E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1999" y="3236976"/>
            <a:ext cx="411480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E0C6E"/>
                </a:solidFill>
                <a:latin typeface="Noto Sans CJK SC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7488" y="3200400"/>
            <a:ext cx="2615183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43243E"/>
                </a:solidFill>
                <a:latin typeface="Noto Sans CJK SC"/>
              </a:rPr>
              <a:t>组织研判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3721608"/>
            <a:ext cx="3026663" cy="1499616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04040"/>
                </a:solidFill>
                <a:latin typeface="Noto Sans CJK SC"/>
              </a:rPr>
              <a:t>将专业判断接入正式的决策程序。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91855" y="3081528"/>
            <a:ext cx="3447287" cy="2249424"/>
          </a:xfrm>
          <a:prstGeom prst="roundRect">
            <a:avLst>
              <a:gd name="adj" fmla="val 11000"/>
            </a:avLst>
          </a:prstGeom>
          <a:solidFill>
            <a:srgbClr val="F3E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3023" y="3236976"/>
            <a:ext cx="411480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E0C6E"/>
                </a:solidFill>
                <a:latin typeface="Noto Sans CJK SC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68511" y="3200400"/>
            <a:ext cx="2615183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43243E"/>
                </a:solidFill>
                <a:latin typeface="Noto Sans CJK SC"/>
              </a:rPr>
              <a:t>行动转译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7" y="3721608"/>
            <a:ext cx="3026663" cy="1499616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04040"/>
                </a:solidFill>
                <a:latin typeface="Noto Sans CJK SC"/>
              </a:rPr>
              <a:t>把预测提前量拆分为具体责任与准备任务。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5669280"/>
            <a:ext cx="10241280" cy="374904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04040"/>
                </a:solidFill>
                <a:latin typeface="Noto Sans CJK SC"/>
              </a:rPr>
              <a:t>由此可见：须考察衔接环节，而不能只评价预测模型本身。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21792" y="6419088"/>
            <a:ext cx="10948111" cy="0"/>
          </a:xfrm>
          <a:prstGeom prst="line">
            <a:avLst/>
          </a:prstGeom>
          <a:ln w="8890">
            <a:solidFill>
              <a:srgbClr val="E6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21792" y="6469380"/>
            <a:ext cx="69494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9666A"/>
                </a:solidFill>
                <a:latin typeface="Noto Sans CJK SC"/>
              </a:rPr>
              <a:t>中文社会科学演示设计系统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6464808"/>
            <a:ext cx="859536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9666A"/>
                </a:solidFill>
                <a:latin typeface="Noto Sans CJK SC"/>
              </a:rPr>
              <a:t>06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21792" y="347472"/>
            <a:ext cx="73152" cy="429768"/>
          </a:xfrm>
          <a:prstGeom prst="rect">
            <a:avLst/>
          </a:prstGeom>
          <a:solidFill>
            <a:srgbClr val="7E0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38328"/>
            <a:ext cx="10607040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42424"/>
                </a:solidFill>
                <a:latin typeface="Noto Sans CJK SC"/>
              </a:rPr>
              <a:t>从预测到行动：机制示意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1069848"/>
            <a:ext cx="10948111" cy="0"/>
          </a:xfrm>
          <a:prstGeom prst="line">
            <a:avLst/>
          </a:prstGeom>
          <a:ln w="10160">
            <a:solidFill>
              <a:srgbClr val="E6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115568"/>
            <a:ext cx="8503920" cy="201168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E0C6E"/>
                </a:solidFill>
                <a:latin typeface="Noto Sans CJK SC"/>
              </a:rPr>
              <a:t>MECHANISM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489454" y="3698748"/>
            <a:ext cx="530352" cy="0"/>
          </a:xfrm>
          <a:prstGeom prst="line">
            <a:avLst/>
          </a:prstGeom>
          <a:ln w="19050">
            <a:solidFill>
              <a:srgbClr val="AD879F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2516886" y="3561588"/>
            <a:ext cx="475488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16886" y="3570732"/>
            <a:ext cx="475488" cy="192024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9666A"/>
                </a:solidFill>
                <a:latin typeface="Noto Sans CJK SC"/>
              </a:rPr>
              <a:t>输入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716932" y="3698748"/>
            <a:ext cx="530352" cy="0"/>
          </a:xfrm>
          <a:prstGeom prst="line">
            <a:avLst/>
          </a:prstGeom>
          <a:ln w="19050">
            <a:solidFill>
              <a:srgbClr val="69666A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744364" y="3561588"/>
            <a:ext cx="475488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44364" y="3570732"/>
            <a:ext cx="475488" cy="192024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9666A"/>
                </a:solidFill>
                <a:latin typeface="Noto Sans CJK SC"/>
              </a:rPr>
              <a:t>讨论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944410" y="3698748"/>
            <a:ext cx="530352" cy="0"/>
          </a:xfrm>
          <a:prstGeom prst="line">
            <a:avLst/>
          </a:prstGeom>
          <a:ln w="19050">
            <a:solidFill>
              <a:srgbClr val="43243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971842" y="3561588"/>
            <a:ext cx="475488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71842" y="3570732"/>
            <a:ext cx="475488" cy="192024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9666A"/>
                </a:solidFill>
                <a:latin typeface="Noto Sans CJK SC"/>
              </a:rPr>
              <a:t>建议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171889" y="3698748"/>
            <a:ext cx="530352" cy="0"/>
          </a:xfrm>
          <a:prstGeom prst="line">
            <a:avLst/>
          </a:prstGeom>
          <a:ln w="19050">
            <a:solidFill>
              <a:srgbClr val="43243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9199321" y="3561588"/>
            <a:ext cx="475488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99321" y="3570732"/>
            <a:ext cx="475488" cy="192024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9666A"/>
                </a:solidFill>
                <a:latin typeface="Noto Sans CJK SC"/>
              </a:rPr>
              <a:t>部署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2327" y="3250691"/>
            <a:ext cx="1697126" cy="896112"/>
          </a:xfrm>
          <a:prstGeom prst="roundRect">
            <a:avLst>
              <a:gd name="adj" fmla="val 11000"/>
            </a:avLst>
          </a:prstGeom>
          <a:solidFill>
            <a:srgbClr val="F3EDF1"/>
          </a:solidFill>
          <a:ln w="10160">
            <a:solidFill>
              <a:srgbClr val="AD8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3767" y="3396996"/>
            <a:ext cx="1514246" cy="384048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43243E"/>
                </a:solidFill>
                <a:latin typeface="Noto Sans CJK SC"/>
              </a:rPr>
              <a:t>多源信息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5479" y="3771900"/>
            <a:ext cx="1550822" cy="338328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04040"/>
                </a:solidFill>
                <a:latin typeface="Noto Sans CJK SC"/>
              </a:rPr>
              <a:t>观测与模型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19806" y="3250691"/>
            <a:ext cx="1697126" cy="896112"/>
          </a:xfrm>
          <a:prstGeom prst="roundRect">
            <a:avLst>
              <a:gd name="adj" fmla="val 11000"/>
            </a:avLst>
          </a:prstGeom>
          <a:solidFill>
            <a:srgbClr val="F3EDF1"/>
          </a:solidFill>
          <a:ln w="10160">
            <a:solidFill>
              <a:srgbClr val="AD8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11246" y="3396996"/>
            <a:ext cx="1514246" cy="384048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43243E"/>
                </a:solidFill>
                <a:latin typeface="Noto Sans CJK SC"/>
              </a:rPr>
              <a:t>风险表征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92958" y="3771900"/>
            <a:ext cx="1550822" cy="338328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04040"/>
                </a:solidFill>
                <a:latin typeface="Noto Sans CJK SC"/>
              </a:rPr>
              <a:t>未来情景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47284" y="3250691"/>
            <a:ext cx="1697126" cy="896112"/>
          </a:xfrm>
          <a:prstGeom prst="roundRect">
            <a:avLst>
              <a:gd name="adj" fmla="val 11000"/>
            </a:avLst>
          </a:prstGeom>
          <a:solidFill>
            <a:srgbClr val="F3EDF1"/>
          </a:solidFill>
          <a:ln w="10160">
            <a:solidFill>
              <a:srgbClr val="AD8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38724" y="3396996"/>
            <a:ext cx="1514246" cy="384048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43243E"/>
                </a:solidFill>
                <a:latin typeface="Noto Sans CJK SC"/>
              </a:rPr>
              <a:t>联合研判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20436" y="3771900"/>
            <a:ext cx="1550822" cy="338328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04040"/>
                </a:solidFill>
                <a:latin typeface="Noto Sans CJK SC"/>
              </a:rPr>
              <a:t>人机校验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74762" y="3250691"/>
            <a:ext cx="1697126" cy="896112"/>
          </a:xfrm>
          <a:prstGeom prst="roundRect">
            <a:avLst>
              <a:gd name="adj" fmla="val 11000"/>
            </a:avLst>
          </a:prstGeom>
          <a:solidFill>
            <a:srgbClr val="F3EDF1"/>
          </a:solidFill>
          <a:ln w="10160">
            <a:solidFill>
              <a:srgbClr val="AD8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66202" y="3396996"/>
            <a:ext cx="1514246" cy="384048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43243E"/>
                </a:solidFill>
                <a:latin typeface="Noto Sans CJK SC"/>
              </a:rPr>
              <a:t>权威确认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7914" y="3771900"/>
            <a:ext cx="1550822" cy="338328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04040"/>
                </a:solidFill>
                <a:latin typeface="Noto Sans CJK SC"/>
              </a:rPr>
              <a:t>正式裁定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02241" y="3250691"/>
            <a:ext cx="1697126" cy="896112"/>
          </a:xfrm>
          <a:prstGeom prst="roundRect">
            <a:avLst>
              <a:gd name="adj" fmla="val 11000"/>
            </a:avLst>
          </a:prstGeom>
          <a:solidFill>
            <a:srgbClr val="F3EDF1"/>
          </a:solidFill>
          <a:ln w="10160">
            <a:solidFill>
              <a:srgbClr val="AD8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93681" y="3396996"/>
            <a:ext cx="1514246" cy="384048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43243E"/>
                </a:solidFill>
                <a:latin typeface="Noto Sans CJK SC"/>
              </a:rPr>
              <a:t>协同行动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75393" y="3771900"/>
            <a:ext cx="1550822" cy="338328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04040"/>
                </a:solidFill>
                <a:latin typeface="Noto Sans CJK SC"/>
              </a:rPr>
              <a:t>任务与资源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" y="5861304"/>
            <a:ext cx="1074420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9666A"/>
                </a:solidFill>
                <a:latin typeface="Noto Sans CJK SC"/>
              </a:rPr>
              <a:t>关系图例：实线＝因果 / 组织关系；虚线＝时间顺序 / 相关关系（具体以连线语义标注为准）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" y="5532120"/>
            <a:ext cx="10698480" cy="265176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04040"/>
                </a:solidFill>
                <a:latin typeface="Noto Sans CJK SC"/>
              </a:rPr>
              <a:t>合成概念图，关系类型仅用于展示图示能力。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21792" y="6419088"/>
            <a:ext cx="10948111" cy="0"/>
          </a:xfrm>
          <a:prstGeom prst="line">
            <a:avLst/>
          </a:prstGeom>
          <a:ln w="8890">
            <a:solidFill>
              <a:srgbClr val="E6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21792" y="6469380"/>
            <a:ext cx="69494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9666A"/>
                </a:solidFill>
                <a:latin typeface="Noto Sans CJK SC"/>
              </a:rPr>
              <a:t>中文社会科学演示设计系统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8480" y="6464808"/>
            <a:ext cx="859536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9666A"/>
                </a:solidFill>
                <a:latin typeface="Noto Sans CJK SC"/>
              </a:rPr>
              <a:t>07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21792" y="347472"/>
            <a:ext cx="73152" cy="429768"/>
          </a:xfrm>
          <a:prstGeom prst="rect">
            <a:avLst/>
          </a:prstGeom>
          <a:solidFill>
            <a:srgbClr val="7E0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38328"/>
            <a:ext cx="10607040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42424"/>
                </a:solidFill>
                <a:latin typeface="Noto Sans CJK SC"/>
              </a:rPr>
              <a:t>过程追踪：五个关键环节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1069848"/>
            <a:ext cx="10948111" cy="0"/>
          </a:xfrm>
          <a:prstGeom prst="line">
            <a:avLst/>
          </a:prstGeom>
          <a:ln w="10160">
            <a:solidFill>
              <a:srgbClr val="E6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115568"/>
            <a:ext cx="8503920" cy="201168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E0C6E"/>
                </a:solidFill>
                <a:latin typeface="Noto Sans CJK SC"/>
              </a:rPr>
              <a:t>PROCESS TRACING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69848" y="2340864"/>
            <a:ext cx="9966960" cy="0"/>
          </a:xfrm>
          <a:prstGeom prst="line">
            <a:avLst/>
          </a:prstGeom>
          <a:ln w="19050">
            <a:solidFill>
              <a:srgbClr val="AD8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841247" y="2167128"/>
            <a:ext cx="347472" cy="347472"/>
          </a:xfrm>
          <a:prstGeom prst="ellipse">
            <a:avLst/>
          </a:prstGeom>
          <a:solidFill>
            <a:srgbClr val="7E0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80844"/>
            <a:ext cx="347472" cy="265176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618488"/>
            <a:ext cx="1925726" cy="384048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E0C6E"/>
                </a:solidFill>
                <a:latin typeface="Noto Sans CJK SC"/>
              </a:rPr>
              <a:t>阶段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724912"/>
            <a:ext cx="2035454" cy="2587752"/>
          </a:xfrm>
          <a:prstGeom prst="roundRect">
            <a:avLst>
              <a:gd name="adj" fmla="val 11000"/>
            </a:avLst>
          </a:prstGeom>
          <a:solidFill>
            <a:srgbClr val="F3E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944368"/>
            <a:ext cx="1742846" cy="603504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43243E"/>
                </a:solidFill>
                <a:latin typeface="Noto Sans CJK SC"/>
              </a:rPr>
              <a:t>信息汇集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694176"/>
            <a:ext cx="1742846" cy="987552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04040"/>
                </a:solidFill>
                <a:latin typeface="Noto Sans CJK SC"/>
              </a:rPr>
              <a:t>形成多源信息基础。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855464"/>
            <a:ext cx="1742846" cy="301752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9666A"/>
                </a:solidFill>
                <a:latin typeface="Noto Sans CJK SC"/>
              </a:rPr>
              <a:t>行动者：技术部门</a:t>
            </a:r>
          </a:p>
        </p:txBody>
      </p:sp>
      <p:sp>
        <p:nvSpPr>
          <p:cNvPr id="14" name="Oval 13"/>
          <p:cNvSpPr/>
          <p:nvPr/>
        </p:nvSpPr>
        <p:spPr>
          <a:xfrm>
            <a:off x="2995574" y="2167128"/>
            <a:ext cx="347472" cy="347472"/>
          </a:xfrm>
          <a:prstGeom prst="ellipse">
            <a:avLst/>
          </a:prstGeom>
          <a:solidFill>
            <a:srgbClr val="7E0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95574" y="2180844"/>
            <a:ext cx="347472" cy="265176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58998" y="1618488"/>
            <a:ext cx="1925726" cy="384048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E0C6E"/>
                </a:solidFill>
                <a:latin typeface="Noto Sans CJK SC"/>
              </a:rPr>
              <a:t>阶段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04134" y="2724912"/>
            <a:ext cx="2035454" cy="2587752"/>
          </a:xfrm>
          <a:prstGeom prst="roundRect">
            <a:avLst>
              <a:gd name="adj" fmla="val 11000"/>
            </a:avLst>
          </a:prstGeom>
          <a:solidFill>
            <a:srgbClr val="F3E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0438" y="2944368"/>
            <a:ext cx="1742846" cy="603504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43243E"/>
                </a:solidFill>
                <a:latin typeface="Noto Sans CJK SC"/>
              </a:rPr>
              <a:t>情景推演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0438" y="3694176"/>
            <a:ext cx="1742846" cy="987552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04040"/>
                </a:solidFill>
                <a:latin typeface="Noto Sans CJK SC"/>
              </a:rPr>
              <a:t>表达不同未来风险。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50438" y="4855464"/>
            <a:ext cx="1742846" cy="301752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9666A"/>
                </a:solidFill>
                <a:latin typeface="Noto Sans CJK SC"/>
              </a:rPr>
              <a:t>行动者：分析部门</a:t>
            </a:r>
          </a:p>
        </p:txBody>
      </p:sp>
      <p:sp>
        <p:nvSpPr>
          <p:cNvPr id="21" name="Oval 20"/>
          <p:cNvSpPr/>
          <p:nvPr/>
        </p:nvSpPr>
        <p:spPr>
          <a:xfrm>
            <a:off x="5149900" y="2167128"/>
            <a:ext cx="347472" cy="347472"/>
          </a:xfrm>
          <a:prstGeom prst="ellipse">
            <a:avLst/>
          </a:prstGeom>
          <a:solidFill>
            <a:srgbClr val="7E0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49900" y="2180844"/>
            <a:ext cx="347472" cy="265176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13324" y="1618488"/>
            <a:ext cx="1925726" cy="384048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E0C6E"/>
                </a:solidFill>
                <a:latin typeface="Noto Sans CJK SC"/>
              </a:rPr>
              <a:t>阶段 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58460" y="2724912"/>
            <a:ext cx="2035454" cy="2587752"/>
          </a:xfrm>
          <a:prstGeom prst="roundRect">
            <a:avLst>
              <a:gd name="adj" fmla="val 11000"/>
            </a:avLst>
          </a:prstGeom>
          <a:solidFill>
            <a:srgbClr val="F3E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04764" y="2944368"/>
            <a:ext cx="1742846" cy="603504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43243E"/>
                </a:solidFill>
                <a:latin typeface="Noto Sans CJK SC"/>
              </a:rPr>
              <a:t>专业研判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4764" y="3694176"/>
            <a:ext cx="1742846" cy="987552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04040"/>
                </a:solidFill>
                <a:latin typeface="Noto Sans CJK SC"/>
              </a:rPr>
              <a:t>识别偏差和决策条件。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04764" y="4855464"/>
            <a:ext cx="1742846" cy="301752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9666A"/>
                </a:solidFill>
                <a:latin typeface="Noto Sans CJK SC"/>
              </a:rPr>
              <a:t>行动者：专家与业务方</a:t>
            </a:r>
          </a:p>
        </p:txBody>
      </p:sp>
      <p:sp>
        <p:nvSpPr>
          <p:cNvPr id="28" name="Oval 27"/>
          <p:cNvSpPr/>
          <p:nvPr/>
        </p:nvSpPr>
        <p:spPr>
          <a:xfrm>
            <a:off x="7304227" y="2167128"/>
            <a:ext cx="347472" cy="347472"/>
          </a:xfrm>
          <a:prstGeom prst="ellipse">
            <a:avLst/>
          </a:prstGeom>
          <a:solidFill>
            <a:srgbClr val="7E0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04227" y="2180844"/>
            <a:ext cx="347472" cy="265176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7651" y="1618488"/>
            <a:ext cx="1925726" cy="384048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E0C6E"/>
                </a:solidFill>
                <a:latin typeface="Noto Sans CJK SC"/>
              </a:rPr>
              <a:t>阶段 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12787" y="2724912"/>
            <a:ext cx="2035454" cy="2587752"/>
          </a:xfrm>
          <a:prstGeom prst="roundRect">
            <a:avLst>
              <a:gd name="adj" fmla="val 11000"/>
            </a:avLst>
          </a:prstGeom>
          <a:solidFill>
            <a:srgbClr val="F3E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59091" y="2944368"/>
            <a:ext cx="1742846" cy="603504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43243E"/>
                </a:solidFill>
                <a:latin typeface="Noto Sans CJK SC"/>
              </a:rPr>
              <a:t>正式裁定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59091" y="3694176"/>
            <a:ext cx="1742846" cy="987552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04040"/>
                </a:solidFill>
                <a:latin typeface="Noto Sans CJK SC"/>
              </a:rPr>
              <a:t>确认权限与行动边界。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59091" y="4855464"/>
            <a:ext cx="1742846" cy="301752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9666A"/>
                </a:solidFill>
                <a:latin typeface="Noto Sans CJK SC"/>
              </a:rPr>
              <a:t>行动者：决策部门</a:t>
            </a:r>
          </a:p>
        </p:txBody>
      </p:sp>
      <p:sp>
        <p:nvSpPr>
          <p:cNvPr id="35" name="Oval 34"/>
          <p:cNvSpPr/>
          <p:nvPr/>
        </p:nvSpPr>
        <p:spPr>
          <a:xfrm>
            <a:off x="9458553" y="2167128"/>
            <a:ext cx="347472" cy="347472"/>
          </a:xfrm>
          <a:prstGeom prst="ellipse">
            <a:avLst/>
          </a:prstGeom>
          <a:solidFill>
            <a:srgbClr val="7E0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58553" y="2180844"/>
            <a:ext cx="347472" cy="265176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21977" y="1618488"/>
            <a:ext cx="1925726" cy="384048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E0C6E"/>
                </a:solidFill>
                <a:latin typeface="Noto Sans CJK SC"/>
              </a:rPr>
              <a:t>阶段 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367113" y="2724912"/>
            <a:ext cx="2035454" cy="2587752"/>
          </a:xfrm>
          <a:prstGeom prst="roundRect">
            <a:avLst>
              <a:gd name="adj" fmla="val 11000"/>
            </a:avLst>
          </a:prstGeom>
          <a:solidFill>
            <a:srgbClr val="F3E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13417" y="2944368"/>
            <a:ext cx="1742846" cy="603504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43243E"/>
                </a:solidFill>
                <a:latin typeface="Noto Sans CJK SC"/>
              </a:rPr>
              <a:t>任务落实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13417" y="3694176"/>
            <a:ext cx="1742846" cy="987552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04040"/>
                </a:solidFill>
                <a:latin typeface="Noto Sans CJK SC"/>
              </a:rPr>
              <a:t>分配职责与资源。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13417" y="4855464"/>
            <a:ext cx="1742846" cy="301752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9666A"/>
                </a:solidFill>
                <a:latin typeface="Noto Sans CJK SC"/>
              </a:rPr>
              <a:t>行动者：执行部门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6384" y="5650992"/>
            <a:ext cx="1051560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404040"/>
                </a:solidFill>
                <a:latin typeface="Noto Sans CJK SC"/>
              </a:rPr>
              <a:t>过程判断：研究重点是转换过程，而非单个工具的性能。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21792" y="6419088"/>
            <a:ext cx="10948111" cy="0"/>
          </a:xfrm>
          <a:prstGeom prst="line">
            <a:avLst/>
          </a:prstGeom>
          <a:ln w="8890">
            <a:solidFill>
              <a:srgbClr val="E6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21792" y="6469380"/>
            <a:ext cx="69494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9666A"/>
                </a:solidFill>
                <a:latin typeface="Noto Sans CJK SC"/>
              </a:rPr>
              <a:t>中文社会科学演示设计系统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98480" y="6464808"/>
            <a:ext cx="859536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9666A"/>
                </a:solidFill>
                <a:latin typeface="Noto Sans CJK SC"/>
              </a:rPr>
              <a:t>08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21792" y="347472"/>
            <a:ext cx="73152" cy="429768"/>
          </a:xfrm>
          <a:prstGeom prst="rect">
            <a:avLst/>
          </a:prstGeom>
          <a:solidFill>
            <a:srgbClr val="7E0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38328"/>
            <a:ext cx="10607040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42424"/>
                </a:solidFill>
                <a:latin typeface="Noto Sans CJK SC"/>
              </a:rPr>
              <a:t>研究设计如何组织？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1069848"/>
            <a:ext cx="10948111" cy="0"/>
          </a:xfrm>
          <a:prstGeom prst="line">
            <a:avLst/>
          </a:prstGeom>
          <a:ln w="10160">
            <a:solidFill>
              <a:srgbClr val="E6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115568"/>
            <a:ext cx="8503920" cy="201168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E0C6E"/>
                </a:solidFill>
                <a:latin typeface="Noto Sans CJK SC"/>
              </a:rPr>
              <a:t>RESEARCH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" y="1554480"/>
            <a:ext cx="5212080" cy="1883664"/>
          </a:xfrm>
          <a:prstGeom prst="roundRect">
            <a:avLst>
              <a:gd name="adj" fmla="val 11000"/>
            </a:avLst>
          </a:prstGeom>
          <a:solidFill>
            <a:srgbClr val="F3E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709928"/>
            <a:ext cx="411480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E0C6E"/>
                </a:solidFill>
                <a:latin typeface="Noto Sans CJK S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673352"/>
            <a:ext cx="4379976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3243E"/>
                </a:solidFill>
                <a:latin typeface="Noto Sans CJK SC"/>
              </a:rPr>
              <a:t>研究对象 / 案例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194560"/>
            <a:ext cx="4791456" cy="1133856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04040"/>
                </a:solidFill>
                <a:latin typeface="Noto Sans CJK SC"/>
              </a:rPr>
              <a:t>以典型场景的治理过程作为分析单位。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1554480"/>
            <a:ext cx="5212080" cy="1883664"/>
          </a:xfrm>
          <a:prstGeom prst="roundRect">
            <a:avLst>
              <a:gd name="adj" fmla="val 11000"/>
            </a:avLst>
          </a:prstGeom>
          <a:solidFill>
            <a:srgbClr val="F3E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709928"/>
            <a:ext cx="411480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E0C6E"/>
                </a:solidFill>
                <a:latin typeface="Noto Sans CJK S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5432" y="1673352"/>
            <a:ext cx="4379976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3243E"/>
                </a:solidFill>
                <a:latin typeface="Noto Sans CJK SC"/>
              </a:rPr>
              <a:t>资料与数据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194560"/>
            <a:ext cx="4791456" cy="1133856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04040"/>
                </a:solidFill>
                <a:latin typeface="Noto Sans CJK SC"/>
              </a:rPr>
              <a:t>访谈、公开文献、过程材料与规范性文件（示意）。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" y="3611880"/>
            <a:ext cx="5212080" cy="1883664"/>
          </a:xfrm>
          <a:prstGeom prst="roundRect">
            <a:avLst>
              <a:gd name="adj" fmla="val 11000"/>
            </a:avLst>
          </a:prstGeom>
          <a:solidFill>
            <a:srgbClr val="F3E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3767328"/>
            <a:ext cx="411480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E0C6E"/>
                </a:solidFill>
                <a:latin typeface="Noto Sans CJK SC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730752"/>
            <a:ext cx="4379976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3243E"/>
                </a:solidFill>
                <a:latin typeface="Noto Sans CJK SC"/>
              </a:rPr>
              <a:t>方法与识别策略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" y="4251960"/>
            <a:ext cx="4791456" cy="1133856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04040"/>
                </a:solidFill>
                <a:latin typeface="Noto Sans CJK SC"/>
              </a:rPr>
              <a:t>过程追踪、材料互证、解释性分析。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3611880"/>
            <a:ext cx="5212080" cy="1883664"/>
          </a:xfrm>
          <a:prstGeom prst="roundRect">
            <a:avLst>
              <a:gd name="adj" fmla="val 11000"/>
            </a:avLst>
          </a:prstGeom>
          <a:solidFill>
            <a:srgbClr val="F3E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9944" y="3767328"/>
            <a:ext cx="411480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E0C6E"/>
                </a:solidFill>
                <a:latin typeface="Noto Sans CJK SC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85432" y="3730752"/>
            <a:ext cx="4379976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3243E"/>
                </a:solidFill>
                <a:latin typeface="Noto Sans CJK SC"/>
              </a:rPr>
              <a:t>研究边界 / 局限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4251960"/>
            <a:ext cx="4791456" cy="1133856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04040"/>
                </a:solidFill>
                <a:latin typeface="Noto Sans CJK SC"/>
              </a:rPr>
              <a:t>样例未使用真实案例，不进行经验结论推断。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5852160"/>
            <a:ext cx="10424160" cy="329184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9666A"/>
                </a:solidFill>
                <a:latin typeface="Noto Sans CJK SC"/>
              </a:rPr>
              <a:t>围绕的问题：信息如何转化为具有行动后果的组织判断？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21792" y="6419088"/>
            <a:ext cx="10948111" cy="0"/>
          </a:xfrm>
          <a:prstGeom prst="line">
            <a:avLst/>
          </a:prstGeom>
          <a:ln w="8890">
            <a:solidFill>
              <a:srgbClr val="E6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21792" y="6469380"/>
            <a:ext cx="69494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9666A"/>
                </a:solidFill>
                <a:latin typeface="Noto Sans CJK SC"/>
              </a:rPr>
              <a:t>中文社会科学演示设计系统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464808"/>
            <a:ext cx="859536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9666A"/>
                </a:solidFill>
                <a:latin typeface="Noto Sans CJK SC"/>
              </a:rPr>
              <a:t>09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21792" y="347472"/>
            <a:ext cx="73152" cy="429768"/>
          </a:xfrm>
          <a:prstGeom prst="rect">
            <a:avLst/>
          </a:prstGeom>
          <a:solidFill>
            <a:srgbClr val="7E0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38328"/>
            <a:ext cx="10607040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42424"/>
                </a:solidFill>
                <a:latin typeface="Noto Sans CJK SC"/>
              </a:rPr>
              <a:t>原生数据图表演示（合成数据）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1069848"/>
            <a:ext cx="10948111" cy="0"/>
          </a:xfrm>
          <a:prstGeom prst="line">
            <a:avLst/>
          </a:prstGeom>
          <a:ln w="10160">
            <a:solidFill>
              <a:srgbClr val="E6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115568"/>
            <a:ext cx="8503920" cy="201168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E0C6E"/>
                </a:solidFill>
                <a:latin typeface="Noto Sans CJK SC"/>
              </a:rPr>
              <a:t>EMPIRICAL RESULT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960120" y="1481328"/>
          <a:ext cx="1024128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86968" y="5733288"/>
            <a:ext cx="1024128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3243E"/>
                </a:solidFill>
                <a:latin typeface="Noto Sans CJK SC"/>
              </a:rPr>
              <a:t>主要发现：此页仅用于演示可编辑的 PowerPoint 原生数据图表。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21792" y="6419088"/>
            <a:ext cx="10948111" cy="0"/>
          </a:xfrm>
          <a:prstGeom prst="line">
            <a:avLst/>
          </a:prstGeom>
          <a:ln w="8890">
            <a:solidFill>
              <a:srgbClr val="E6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21792" y="6469380"/>
            <a:ext cx="69494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9666A"/>
                </a:solidFill>
                <a:latin typeface="Noto Sans CJK SC"/>
              </a:rPr>
              <a:t>中文社会科学演示设计系统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64808"/>
            <a:ext cx="859536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9666A"/>
                </a:solidFill>
                <a:latin typeface="Noto Sans CJK SC"/>
              </a:rPr>
              <a:t>10 / 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6190488"/>
            <a:ext cx="10808208" cy="182880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69666A"/>
                </a:solidFill>
                <a:latin typeface="Noto Sans CJK SC"/>
              </a:rPr>
              <a:t>来源：合成示例数据，不可作为经验依据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21792" y="347472"/>
            <a:ext cx="73152" cy="429768"/>
          </a:xfrm>
          <a:prstGeom prst="rect">
            <a:avLst/>
          </a:prstGeom>
          <a:solidFill>
            <a:srgbClr val="7E0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38328"/>
            <a:ext cx="10607040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42424"/>
                </a:solidFill>
                <a:latin typeface="Noto Sans CJK SC"/>
              </a:rPr>
              <a:t>区间估计展示（合成数据，95% CI）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1069848"/>
            <a:ext cx="10948111" cy="0"/>
          </a:xfrm>
          <a:prstGeom prst="line">
            <a:avLst/>
          </a:prstGeom>
          <a:ln w="10160">
            <a:solidFill>
              <a:srgbClr val="E6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115568"/>
            <a:ext cx="8503920" cy="201168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E0C6E"/>
                </a:solidFill>
                <a:latin typeface="Noto Sans CJK SC"/>
              </a:rPr>
              <a:t>INTERVAL ESTIMATES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4872" y="1691640"/>
            <a:ext cx="0" cy="3922776"/>
          </a:xfrm>
          <a:prstGeom prst="line">
            <a:avLst/>
          </a:prstGeom>
          <a:ln w="11430">
            <a:solidFill>
              <a:srgbClr val="AD879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86968" y="2018538"/>
            <a:ext cx="2679192" cy="310896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404040"/>
                </a:solidFill>
                <a:latin typeface="Noto Sans CJK SC"/>
              </a:rPr>
              <a:t>模型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329434"/>
            <a:ext cx="2679192" cy="246888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9666A"/>
                </a:solidFill>
                <a:latin typeface="Noto Sans CJK SC"/>
              </a:rPr>
              <a:t>0.28 [0.10, 0.46]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26757" y="2265426"/>
            <a:ext cx="2202790" cy="0"/>
          </a:xfrm>
          <a:prstGeom prst="line">
            <a:avLst/>
          </a:prstGeom>
          <a:ln w="19050">
            <a:solidFill>
              <a:srgbClr val="4324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826757" y="2192274"/>
            <a:ext cx="0" cy="146304"/>
          </a:xfrm>
          <a:prstGeom prst="line">
            <a:avLst/>
          </a:prstGeom>
          <a:ln w="13970">
            <a:solidFill>
              <a:srgbClr val="4324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029547" y="2192274"/>
            <a:ext cx="0" cy="146304"/>
          </a:xfrm>
          <a:prstGeom prst="line">
            <a:avLst/>
          </a:prstGeom>
          <a:ln w="13970">
            <a:solidFill>
              <a:srgbClr val="4324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7877860" y="2215134"/>
            <a:ext cx="100584" cy="100584"/>
          </a:xfrm>
          <a:prstGeom prst="ellipse">
            <a:avLst/>
          </a:prstGeom>
          <a:solidFill>
            <a:srgbClr val="7E0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2928366"/>
            <a:ext cx="2679192" cy="310896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404040"/>
                </a:solidFill>
                <a:latin typeface="Noto Sans CJK SC"/>
              </a:rPr>
              <a:t>模型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239262"/>
            <a:ext cx="2679192" cy="246888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9666A"/>
                </a:solidFill>
                <a:latin typeface="Noto Sans CJK SC"/>
              </a:rPr>
              <a:t>0.16 [-0.04, 0.36]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70117" y="3175254"/>
            <a:ext cx="2447544" cy="0"/>
          </a:xfrm>
          <a:prstGeom prst="line">
            <a:avLst/>
          </a:prstGeom>
          <a:ln w="19050">
            <a:solidFill>
              <a:srgbClr val="4324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970117" y="3102102"/>
            <a:ext cx="0" cy="146304"/>
          </a:xfrm>
          <a:prstGeom prst="line">
            <a:avLst/>
          </a:prstGeom>
          <a:ln w="13970">
            <a:solidFill>
              <a:srgbClr val="4324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417661" y="3102102"/>
            <a:ext cx="0" cy="146304"/>
          </a:xfrm>
          <a:prstGeom prst="line">
            <a:avLst/>
          </a:prstGeom>
          <a:ln w="13970">
            <a:solidFill>
              <a:srgbClr val="4324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7143597" y="3124962"/>
            <a:ext cx="100584" cy="100584"/>
          </a:xfrm>
          <a:prstGeom prst="ellipse">
            <a:avLst/>
          </a:prstGeom>
          <a:solidFill>
            <a:srgbClr val="7E0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3838194"/>
            <a:ext cx="2679192" cy="310896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404040"/>
                </a:solidFill>
                <a:latin typeface="Noto Sans CJK SC"/>
              </a:rPr>
              <a:t>模型 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149089"/>
            <a:ext cx="2679192" cy="246888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9666A"/>
                </a:solidFill>
                <a:latin typeface="Noto Sans CJK SC"/>
              </a:rPr>
              <a:t>0.43 [0.20, 0.66]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438644" y="4085081"/>
            <a:ext cx="2814675" cy="0"/>
          </a:xfrm>
          <a:prstGeom prst="line">
            <a:avLst/>
          </a:prstGeom>
          <a:ln w="19050">
            <a:solidFill>
              <a:srgbClr val="4324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438644" y="4011929"/>
            <a:ext cx="0" cy="146304"/>
          </a:xfrm>
          <a:prstGeom prst="line">
            <a:avLst/>
          </a:prstGeom>
          <a:ln w="13970">
            <a:solidFill>
              <a:srgbClr val="4324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253319" y="4011929"/>
            <a:ext cx="0" cy="146304"/>
          </a:xfrm>
          <a:prstGeom prst="line">
            <a:avLst/>
          </a:prstGeom>
          <a:ln w="13970">
            <a:solidFill>
              <a:srgbClr val="4324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8795689" y="4034789"/>
            <a:ext cx="100584" cy="100584"/>
          </a:xfrm>
          <a:prstGeom prst="ellipse">
            <a:avLst/>
          </a:prstGeom>
          <a:solidFill>
            <a:srgbClr val="7E0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748022"/>
            <a:ext cx="2679192" cy="310896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404040"/>
                </a:solidFill>
                <a:latin typeface="Noto Sans CJK SC"/>
              </a:rPr>
              <a:t>模型 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5058918"/>
            <a:ext cx="2679192" cy="246888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9666A"/>
                </a:solidFill>
                <a:latin typeface="Noto Sans CJK SC"/>
              </a:rPr>
              <a:t>-0.06 [-0.25, 0.13]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685157" y="4994910"/>
            <a:ext cx="2325166" cy="0"/>
          </a:xfrm>
          <a:prstGeom prst="line">
            <a:avLst/>
          </a:prstGeom>
          <a:ln w="19050">
            <a:solidFill>
              <a:srgbClr val="4324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685157" y="4921758"/>
            <a:ext cx="0" cy="146304"/>
          </a:xfrm>
          <a:prstGeom prst="line">
            <a:avLst/>
          </a:prstGeom>
          <a:ln w="13970">
            <a:solidFill>
              <a:srgbClr val="4324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010323" y="4921758"/>
            <a:ext cx="0" cy="146304"/>
          </a:xfrm>
          <a:prstGeom prst="line">
            <a:avLst/>
          </a:prstGeom>
          <a:ln w="13970">
            <a:solidFill>
              <a:srgbClr val="4324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5797448" y="4944618"/>
            <a:ext cx="100584" cy="100584"/>
          </a:xfrm>
          <a:prstGeom prst="ellipse">
            <a:avLst/>
          </a:prstGeom>
          <a:solidFill>
            <a:srgbClr val="7E0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3767328" y="5696712"/>
            <a:ext cx="7342631" cy="0"/>
          </a:xfrm>
          <a:prstGeom prst="line">
            <a:avLst/>
          </a:prstGeom>
          <a:ln w="10160">
            <a:solidFill>
              <a:srgbClr val="696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767328" y="5669280"/>
            <a:ext cx="0" cy="91440"/>
          </a:xfrm>
          <a:prstGeom prst="line">
            <a:avLst/>
          </a:prstGeom>
          <a:ln w="7620">
            <a:solidFill>
              <a:srgbClr val="696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493008" y="5806440"/>
            <a:ext cx="54864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9666A"/>
                </a:solidFill>
                <a:latin typeface="Noto Sans CJK SC"/>
              </a:rPr>
              <a:t>-0.4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602986" y="5669280"/>
            <a:ext cx="0" cy="91440"/>
          </a:xfrm>
          <a:prstGeom prst="line">
            <a:avLst/>
          </a:prstGeom>
          <a:ln w="7620">
            <a:solidFill>
              <a:srgbClr val="696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328666" y="5806440"/>
            <a:ext cx="54864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9666A"/>
                </a:solidFill>
                <a:latin typeface="Noto Sans CJK SC"/>
              </a:rPr>
              <a:t>-0.1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438644" y="5669280"/>
            <a:ext cx="0" cy="91440"/>
          </a:xfrm>
          <a:prstGeom prst="line">
            <a:avLst/>
          </a:prstGeom>
          <a:ln w="7620">
            <a:solidFill>
              <a:srgbClr val="696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164324" y="5806440"/>
            <a:ext cx="54864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9666A"/>
                </a:solidFill>
                <a:latin typeface="Noto Sans CJK SC"/>
              </a:rPr>
              <a:t>0.2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274301" y="5669280"/>
            <a:ext cx="0" cy="91440"/>
          </a:xfrm>
          <a:prstGeom prst="line">
            <a:avLst/>
          </a:prstGeom>
          <a:ln w="7620">
            <a:solidFill>
              <a:srgbClr val="696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999981" y="5806440"/>
            <a:ext cx="54864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9666A"/>
                </a:solidFill>
                <a:latin typeface="Noto Sans CJK SC"/>
              </a:rPr>
              <a:t>0.5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1109959" y="5669280"/>
            <a:ext cx="0" cy="91440"/>
          </a:xfrm>
          <a:prstGeom prst="line">
            <a:avLst/>
          </a:prstGeom>
          <a:ln w="7620">
            <a:solidFill>
              <a:srgbClr val="696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0835639" y="5806440"/>
            <a:ext cx="54864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9666A"/>
                </a:solidFill>
                <a:latin typeface="Noto Sans CJK SC"/>
              </a:rPr>
              <a:t>0.8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67328" y="5998464"/>
            <a:ext cx="7342631" cy="201168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9666A"/>
                </a:solidFill>
                <a:latin typeface="Noto Sans CJK SC"/>
              </a:rPr>
              <a:t>合成系数点估计及 95% 置信区间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21792" y="6419088"/>
            <a:ext cx="10948111" cy="0"/>
          </a:xfrm>
          <a:prstGeom prst="line">
            <a:avLst/>
          </a:prstGeom>
          <a:ln w="8890">
            <a:solidFill>
              <a:srgbClr val="E6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21792" y="6469380"/>
            <a:ext cx="69494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9666A"/>
                </a:solidFill>
                <a:latin typeface="Noto Sans CJK SC"/>
              </a:rPr>
              <a:t>中文社会科学演示设计系统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98480" y="6464808"/>
            <a:ext cx="859536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9666A"/>
                </a:solidFill>
                <a:latin typeface="Noto Sans CJK SC"/>
              </a:rPr>
              <a:t>11 / 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" y="6190488"/>
            <a:ext cx="10808208" cy="182880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69666A"/>
                </a:solidFill>
                <a:latin typeface="Noto Sans CJK SC"/>
              </a:rPr>
              <a:t>来源：合成示例数据，仅用于说明视觉结构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21792" y="347472"/>
            <a:ext cx="73152" cy="429768"/>
          </a:xfrm>
          <a:prstGeom prst="rect">
            <a:avLst/>
          </a:prstGeom>
          <a:solidFill>
            <a:srgbClr val="7E0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38328"/>
            <a:ext cx="10607040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42424"/>
                </a:solidFill>
                <a:latin typeface="Noto Sans CJK SC"/>
              </a:rPr>
              <a:t>研究材料矩阵（示意）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1069848"/>
            <a:ext cx="10948111" cy="0"/>
          </a:xfrm>
          <a:prstGeom prst="line">
            <a:avLst/>
          </a:prstGeom>
          <a:ln w="10160">
            <a:solidFill>
              <a:srgbClr val="E6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115568"/>
            <a:ext cx="8503920" cy="201168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E0C6E"/>
                </a:solidFill>
                <a:latin typeface="Noto Sans CJK SC"/>
              </a:rPr>
              <a:t>EVIDENCE TABLE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22376" y="1572768"/>
          <a:ext cx="107442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6050"/>
                <a:gridCol w="2686050"/>
                <a:gridCol w="2686050"/>
                <a:gridCol w="2686050"/>
              </a:tblGrid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Noto Sans CJK SC"/>
                        </a:rPr>
                        <a:t>证据类型</a:t>
                      </a:r>
                    </a:p>
                  </a:txBody>
                  <a:tcPr marL="91440" marR="73152" marT="64008" marB="36576">
                    <a:solidFill>
                      <a:srgbClr val="4324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Noto Sans CJK SC"/>
                        </a:rPr>
                        <a:t>承担功能</a:t>
                      </a:r>
                    </a:p>
                  </a:txBody>
                  <a:tcPr marL="91440" marR="73152" marT="64008" marB="36576">
                    <a:solidFill>
                      <a:srgbClr val="4324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Noto Sans CJK SC"/>
                        </a:rPr>
                        <a:t>可核查内容</a:t>
                      </a:r>
                    </a:p>
                  </a:txBody>
                  <a:tcPr marL="91440" marR="73152" marT="64008" marB="36576">
                    <a:solidFill>
                      <a:srgbClr val="4324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Noto Sans CJK SC"/>
                        </a:rPr>
                        <a:t>解释边界</a:t>
                      </a:r>
                    </a:p>
                  </a:txBody>
                  <a:tcPr marL="91440" marR="73152" marT="64008" marB="36576">
                    <a:solidFill>
                      <a:srgbClr val="43243E"/>
                    </a:solidFill>
                  </a:tcPr>
                </a:tc>
              </a:tr>
              <a:tr h="43662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04040"/>
                          </a:solidFill>
                          <a:latin typeface="Noto Sans CJK SC"/>
                        </a:rPr>
                        <a:t>公开文件</a:t>
                      </a:r>
                    </a:p>
                  </a:txBody>
                  <a:tcPr marL="91440" marR="73152" marT="64008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04040"/>
                          </a:solidFill>
                          <a:latin typeface="Noto Sans CJK SC"/>
                        </a:rPr>
                        <a:t>制度背景</a:t>
                      </a:r>
                    </a:p>
                  </a:txBody>
                  <a:tcPr marL="91440" marR="73152" marT="64008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04040"/>
                          </a:solidFill>
                          <a:latin typeface="Noto Sans CJK SC"/>
                        </a:rPr>
                        <a:t>正式权限与职责</a:t>
                      </a:r>
                    </a:p>
                  </a:txBody>
                  <a:tcPr marL="91440" marR="73152" marT="64008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04040"/>
                          </a:solidFill>
                          <a:latin typeface="Noto Sans CJK SC"/>
                        </a:rPr>
                        <a:t>不代表真实执行</a:t>
                      </a:r>
                    </a:p>
                  </a:txBody>
                  <a:tcPr marL="91440" marR="73152" marT="64008" marB="36576">
                    <a:solidFill>
                      <a:srgbClr val="FFFFFF"/>
                    </a:solidFill>
                  </a:tcPr>
                </a:tc>
              </a:tr>
              <a:tr h="436626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43243E"/>
                          </a:solidFill>
                          <a:latin typeface="Noto Sans CJK SC"/>
                        </a:rPr>
                        <a:t>过程材料</a:t>
                      </a:r>
                    </a:p>
                  </a:txBody>
                  <a:tcPr marL="91440" marR="73152" marT="64008" marB="36576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43243E"/>
                          </a:solidFill>
                          <a:latin typeface="Noto Sans CJK SC"/>
                        </a:rPr>
                        <a:t>关键节点</a:t>
                      </a:r>
                    </a:p>
                  </a:txBody>
                  <a:tcPr marL="91440" marR="73152" marT="64008" marB="36576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43243E"/>
                          </a:solidFill>
                          <a:latin typeface="Noto Sans CJK SC"/>
                        </a:rPr>
                        <a:t>时间与行动记录</a:t>
                      </a:r>
                    </a:p>
                  </a:txBody>
                  <a:tcPr marL="91440" marR="73152" marT="64008" marB="36576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43243E"/>
                          </a:solidFill>
                          <a:latin typeface="Noto Sans CJK SC"/>
                        </a:rPr>
                        <a:t>可能存在选择性</a:t>
                      </a:r>
                    </a:p>
                  </a:txBody>
                  <a:tcPr marL="91440" marR="73152" marT="64008" marB="36576">
                    <a:solidFill>
                      <a:srgbClr val="F3EDF1"/>
                    </a:solidFill>
                  </a:tcPr>
                </a:tc>
              </a:tr>
              <a:tr h="43662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04040"/>
                          </a:solidFill>
                          <a:latin typeface="Noto Sans CJK SC"/>
                        </a:rPr>
                        <a:t>访谈材料</a:t>
                      </a:r>
                    </a:p>
                  </a:txBody>
                  <a:tcPr marL="91440" marR="73152" marT="64008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04040"/>
                          </a:solidFill>
                          <a:latin typeface="Noto Sans CJK SC"/>
                        </a:rPr>
                        <a:t>意义建构</a:t>
                      </a:r>
                    </a:p>
                  </a:txBody>
                  <a:tcPr marL="91440" marR="73152" marT="64008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04040"/>
                          </a:solidFill>
                          <a:latin typeface="Noto Sans CJK SC"/>
                        </a:rPr>
                        <a:t>行动者的理解</a:t>
                      </a:r>
                    </a:p>
                  </a:txBody>
                  <a:tcPr marL="91440" marR="73152" marT="64008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04040"/>
                          </a:solidFill>
                          <a:latin typeface="Noto Sans CJK SC"/>
                        </a:rPr>
                        <a:t>需要交叉验证</a:t>
                      </a:r>
                    </a:p>
                  </a:txBody>
                  <a:tcPr marL="91440" marR="73152" marT="64008" marB="36576">
                    <a:solidFill>
                      <a:srgbClr val="FFFFFF"/>
                    </a:solidFill>
                  </a:tcPr>
                </a:tc>
              </a:tr>
              <a:tr h="43662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04040"/>
                          </a:solidFill>
                          <a:latin typeface="Noto Sans CJK SC"/>
                        </a:rPr>
                        <a:t>模型输出</a:t>
                      </a:r>
                    </a:p>
                  </a:txBody>
                  <a:tcPr marL="91440" marR="73152" marT="64008" marB="36576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04040"/>
                          </a:solidFill>
                          <a:latin typeface="Noto Sans CJK SC"/>
                        </a:rPr>
                        <a:t>情景表征</a:t>
                      </a:r>
                    </a:p>
                  </a:txBody>
                  <a:tcPr marL="91440" marR="73152" marT="64008" marB="36576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04040"/>
                          </a:solidFill>
                          <a:latin typeface="Noto Sans CJK SC"/>
                        </a:rPr>
                        <a:t>预测条件与误差</a:t>
                      </a:r>
                    </a:p>
                  </a:txBody>
                  <a:tcPr marL="91440" marR="73152" marT="64008" marB="36576">
                    <a:solidFill>
                      <a:srgbClr val="F3ED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04040"/>
                          </a:solidFill>
                          <a:latin typeface="Noto Sans CJK SC"/>
                        </a:rPr>
                        <a:t>不能代替裁定</a:t>
                      </a:r>
                    </a:p>
                  </a:txBody>
                  <a:tcPr marL="91440" marR="73152" marT="64008" marB="36576">
                    <a:solidFill>
                      <a:srgbClr val="F3EDF1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3816" y="3959352"/>
            <a:ext cx="10515600" cy="301752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04040"/>
                </a:solidFill>
                <a:latin typeface="Noto Sans CJK SC"/>
              </a:rPr>
              <a:t>本表展示原生可编辑表格，内容仅为研究设计示意。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21792" y="6419088"/>
            <a:ext cx="10948111" cy="0"/>
          </a:xfrm>
          <a:prstGeom prst="line">
            <a:avLst/>
          </a:prstGeom>
          <a:ln w="8890">
            <a:solidFill>
              <a:srgbClr val="E6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21792" y="6469380"/>
            <a:ext cx="69494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9666A"/>
                </a:solidFill>
                <a:latin typeface="Noto Sans CJK SC"/>
              </a:rPr>
              <a:t>中文社会科学演示设计系统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64808"/>
            <a:ext cx="859536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9666A"/>
                </a:solidFill>
                <a:latin typeface="Noto Sans CJK SC"/>
              </a:rPr>
              <a:t>12 / 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6190488"/>
            <a:ext cx="10808208" cy="182880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69666A"/>
                </a:solidFill>
                <a:latin typeface="Noto Sans CJK SC"/>
              </a:rPr>
              <a:t>来源：方法论示例，非已完成的实证调查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21792" y="347472"/>
            <a:ext cx="73152" cy="429768"/>
          </a:xfrm>
          <a:prstGeom prst="rect">
            <a:avLst/>
          </a:prstGeom>
          <a:solidFill>
            <a:srgbClr val="7E0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38328"/>
            <a:ext cx="10607040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42424"/>
                </a:solidFill>
                <a:latin typeface="Noto Sans CJK SC"/>
              </a:rPr>
              <a:t>关键材料如何进入演示？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1069848"/>
            <a:ext cx="10948111" cy="0"/>
          </a:xfrm>
          <a:prstGeom prst="line">
            <a:avLst/>
          </a:prstGeom>
          <a:ln w="10160">
            <a:solidFill>
              <a:srgbClr val="E6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115568"/>
            <a:ext cx="8503920" cy="201168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E0C6E"/>
                </a:solidFill>
                <a:latin typeface="Noto Sans CJK SC"/>
              </a:rPr>
              <a:t>PRIMARY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" y="1600200"/>
            <a:ext cx="10707624" cy="2633472"/>
          </a:xfrm>
          <a:prstGeom prst="roundRect">
            <a:avLst>
              <a:gd name="adj" fmla="val 11000"/>
            </a:avLst>
          </a:prstGeom>
          <a:solidFill>
            <a:srgbClr val="F3E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636776"/>
            <a:ext cx="521207" cy="594360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100" b="1">
                <a:solidFill>
                  <a:srgbClr val="7E0C6E"/>
                </a:solidFill>
                <a:latin typeface="Noto Sans CJK SC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35608" y="2039112"/>
            <a:ext cx="9390888" cy="1563624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42424"/>
                </a:solidFill>
                <a:latin typeface="Noto Sans CJK SC"/>
              </a:rPr>
              <a:t>这是一段用于检查中文引文排版、材料来源标识和证据解释关系的合成文本。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22191"/>
            <a:ext cx="978408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9666A"/>
                </a:solidFill>
                <a:latin typeface="Noto Sans CJK SC"/>
              </a:rPr>
              <a:t>材料来源：完全虚构的排版测试材料；不得作为真实引文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599432"/>
            <a:ext cx="1920240" cy="310896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E0C6E"/>
                </a:solidFill>
                <a:latin typeface="Noto Sans CJK SC"/>
              </a:rPr>
              <a:t>证据指向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5074920"/>
            <a:ext cx="10296144" cy="694944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04040"/>
                </a:solidFill>
                <a:latin typeface="Noto Sans CJK SC"/>
              </a:rPr>
              <a:t>应区分材料原文、研究者解释与可支持的结论。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21792" y="6419088"/>
            <a:ext cx="10948111" cy="0"/>
          </a:xfrm>
          <a:prstGeom prst="line">
            <a:avLst/>
          </a:prstGeom>
          <a:ln w="8890">
            <a:solidFill>
              <a:srgbClr val="E6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21792" y="6469380"/>
            <a:ext cx="69494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9666A"/>
                </a:solidFill>
                <a:latin typeface="Noto Sans CJK SC"/>
              </a:rPr>
              <a:t>中文社会科学演示设计系统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464808"/>
            <a:ext cx="859536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9666A"/>
                </a:solidFill>
                <a:latin typeface="Noto Sans CJK SC"/>
              </a:rPr>
              <a:t>13 / 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6190488"/>
            <a:ext cx="10808208" cy="182880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69666A"/>
                </a:solidFill>
                <a:latin typeface="Noto Sans CJK SC"/>
              </a:rPr>
              <a:t>来源：完全虚构的排版测试材料；不得作为真实引文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21792" y="347472"/>
            <a:ext cx="73152" cy="429768"/>
          </a:xfrm>
          <a:prstGeom prst="rect">
            <a:avLst/>
          </a:prstGeom>
          <a:solidFill>
            <a:srgbClr val="7E0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38328"/>
            <a:ext cx="10607040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42424"/>
                </a:solidFill>
                <a:latin typeface="Noto Sans CJK SC"/>
              </a:rPr>
              <a:t>研究图片版式及标注规则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1069848"/>
            <a:ext cx="10948111" cy="0"/>
          </a:xfrm>
          <a:prstGeom prst="line">
            <a:avLst/>
          </a:prstGeom>
          <a:ln w="10160">
            <a:solidFill>
              <a:srgbClr val="E6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115568"/>
            <a:ext cx="8503920" cy="201168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E0C6E"/>
                </a:solidFill>
                <a:latin typeface="Noto Sans CJK SC"/>
              </a:rPr>
              <a:t>DOCUMENTARY MATERIAL</a:t>
            </a:r>
          </a:p>
        </p:txBody>
      </p:sp>
      <p:pic>
        <p:nvPicPr>
          <p:cNvPr id="6" name="Picture 5" descr="synthetic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831" y="1504187"/>
            <a:ext cx="8638032" cy="39867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5528" y="5687568"/>
            <a:ext cx="1060704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04040"/>
                </a:solidFill>
                <a:latin typeface="Noto Sans CJK SC"/>
              </a:rPr>
              <a:t>图：技术、研判与行动的示意关系（合成测试图，不是田野照片或实测数据）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21792" y="6419088"/>
            <a:ext cx="10948111" cy="0"/>
          </a:xfrm>
          <a:prstGeom prst="line">
            <a:avLst/>
          </a:prstGeom>
          <a:ln w="8890">
            <a:solidFill>
              <a:srgbClr val="E6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21792" y="6469380"/>
            <a:ext cx="69494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9666A"/>
                </a:solidFill>
                <a:latin typeface="Noto Sans CJK SC"/>
              </a:rPr>
              <a:t>中文社会科学演示设计系统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64808"/>
            <a:ext cx="859536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9666A"/>
                </a:solidFill>
                <a:latin typeface="Noto Sans CJK SC"/>
              </a:rPr>
              <a:t>14 / 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6190488"/>
            <a:ext cx="10808208" cy="182880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69666A"/>
                </a:solidFill>
                <a:latin typeface="Noto Sans CJK SC"/>
              </a:rPr>
              <a:t>来源：由本项目生成的 synthetic_demo.png；允许随示例分发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21792" y="347472"/>
            <a:ext cx="73152" cy="429768"/>
          </a:xfrm>
          <a:prstGeom prst="rect">
            <a:avLst/>
          </a:prstGeom>
          <a:solidFill>
            <a:srgbClr val="7E0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38328"/>
            <a:ext cx="10607040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42424"/>
                </a:solidFill>
                <a:latin typeface="Noto Sans CJK SC"/>
              </a:rPr>
              <a:t>总结：从技术效果走向治理解释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1069848"/>
            <a:ext cx="10948111" cy="0"/>
          </a:xfrm>
          <a:prstGeom prst="line">
            <a:avLst/>
          </a:prstGeom>
          <a:ln w="10160">
            <a:solidFill>
              <a:srgbClr val="E6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115568"/>
            <a:ext cx="8503920" cy="201168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E0C6E"/>
                </a:solidFill>
                <a:latin typeface="Noto Sans CJK SC"/>
              </a:rPr>
              <a:t>CONCLUSION</a:t>
            </a:r>
          </a:p>
        </p:txBody>
      </p:sp>
      <p:sp>
        <p:nvSpPr>
          <p:cNvPr id="6" name="Oval 5"/>
          <p:cNvSpPr/>
          <p:nvPr/>
        </p:nvSpPr>
        <p:spPr>
          <a:xfrm>
            <a:off x="877824" y="1655063"/>
            <a:ext cx="347472" cy="347472"/>
          </a:xfrm>
          <a:prstGeom prst="ellipse">
            <a:avLst/>
          </a:prstGeom>
          <a:solidFill>
            <a:srgbClr val="7E0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668779"/>
            <a:ext cx="347472" cy="265176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1609344"/>
            <a:ext cx="9710928" cy="923543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42424"/>
                </a:solidFill>
                <a:latin typeface="Noto Sans CJK SC"/>
              </a:rPr>
              <a:t>研究应识别预测结果进入组织决策的具体过程。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17320" y="2560320"/>
            <a:ext cx="9884664" cy="0"/>
          </a:xfrm>
          <a:prstGeom prst="line">
            <a:avLst/>
          </a:prstGeom>
          <a:ln w="10160">
            <a:solidFill>
              <a:srgbClr val="E6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877824" y="2779776"/>
            <a:ext cx="347472" cy="347472"/>
          </a:xfrm>
          <a:prstGeom prst="ellipse">
            <a:avLst/>
          </a:prstGeom>
          <a:solidFill>
            <a:srgbClr val="7E0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793492"/>
            <a:ext cx="347472" cy="265176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2734056"/>
            <a:ext cx="9710928" cy="923543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42424"/>
                </a:solidFill>
                <a:latin typeface="Noto Sans CJK SC"/>
              </a:rPr>
              <a:t>风险表征能否转化为行动，取决于后续组织机制。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17320" y="3685031"/>
            <a:ext cx="9884664" cy="0"/>
          </a:xfrm>
          <a:prstGeom prst="line">
            <a:avLst/>
          </a:prstGeom>
          <a:ln w="10160">
            <a:solidFill>
              <a:srgbClr val="E6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877824" y="3904487"/>
            <a:ext cx="347472" cy="347472"/>
          </a:xfrm>
          <a:prstGeom prst="ellipse">
            <a:avLst/>
          </a:prstGeom>
          <a:solidFill>
            <a:srgbClr val="7E0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3918203"/>
            <a:ext cx="347472" cy="265176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4752" y="3858768"/>
            <a:ext cx="9710928" cy="923543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42424"/>
                </a:solidFill>
                <a:latin typeface="Noto Sans CJK SC"/>
              </a:rPr>
              <a:t>可编辑图示必须保留概念之间真实的关系语义。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" y="4937760"/>
            <a:ext cx="6601968" cy="960120"/>
          </a:xfrm>
          <a:prstGeom prst="roundRect">
            <a:avLst>
              <a:gd name="adj" fmla="val 11000"/>
            </a:avLst>
          </a:prstGeom>
          <a:solidFill>
            <a:srgbClr val="F3E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589520" y="4937760"/>
            <a:ext cx="3803904" cy="960120"/>
          </a:xfrm>
          <a:prstGeom prst="roundRect">
            <a:avLst>
              <a:gd name="adj" fmla="val 11000"/>
            </a:avLst>
          </a:prstGeom>
          <a:solidFill>
            <a:srgbClr val="F3E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" y="5074920"/>
            <a:ext cx="1188720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7E0C6E"/>
                </a:solidFill>
                <a:latin typeface="Noto Sans CJK SC"/>
              </a:rPr>
              <a:t>理论贡献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12264" y="5056632"/>
            <a:ext cx="4983480" cy="676656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04040"/>
                </a:solidFill>
                <a:latin typeface="Noto Sans CJK SC"/>
              </a:rPr>
              <a:t>把学术表达结构与 PPT 设计系统对应起来。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63256" y="5074920"/>
            <a:ext cx="1170432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7E0C6E"/>
                </a:solidFill>
                <a:latin typeface="Noto Sans CJK SC"/>
              </a:rPr>
              <a:t>研究局限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33688" y="5047488"/>
            <a:ext cx="2212848" cy="676656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04040"/>
                </a:solidFill>
                <a:latin typeface="Noto Sans CJK SC"/>
              </a:rPr>
              <a:t>此文件只展示 Skill 能力，不提供真实研究发现。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21792" y="6419088"/>
            <a:ext cx="10948111" cy="0"/>
          </a:xfrm>
          <a:prstGeom prst="line">
            <a:avLst/>
          </a:prstGeom>
          <a:ln w="8890">
            <a:solidFill>
              <a:srgbClr val="E6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21792" y="6469380"/>
            <a:ext cx="69494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9666A"/>
                </a:solidFill>
                <a:latin typeface="Noto Sans CJK SC"/>
              </a:rPr>
              <a:t>中文社会科学演示设计系统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464808"/>
            <a:ext cx="859536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9666A"/>
                </a:solidFill>
                <a:latin typeface="Noto Sans CJK SC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7E0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289304"/>
            <a:ext cx="685800" cy="64008"/>
          </a:xfrm>
          <a:prstGeom prst="rect">
            <a:avLst/>
          </a:prstGeom>
          <a:solidFill>
            <a:srgbClr val="7E0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37943"/>
            <a:ext cx="10652760" cy="1627632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42424"/>
                </a:solidFill>
                <a:latin typeface="Noto Sans CJK SC"/>
              </a:rPr>
              <a:t>让视觉服务论证，让每一页都有清晰的学术任务。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4544568"/>
            <a:ext cx="9784080" cy="530352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7E0C6E"/>
                </a:solidFill>
                <a:latin typeface="Noto Sans CJK SC"/>
              </a:rPr>
              <a:t>谢谢，欢迎批评指正。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49808" y="5742432"/>
            <a:ext cx="10543032" cy="0"/>
          </a:xfrm>
          <a:prstGeom prst="line">
            <a:avLst/>
          </a:prstGeom>
          <a:ln w="13970">
            <a:solidFill>
              <a:srgbClr val="E6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58952" y="5980176"/>
            <a:ext cx="9912096" cy="338328"/>
          </a:xfrm>
          <a:prstGeom prst="rect">
            <a:avLst/>
          </a:prstGeom>
          <a:noFill/>
        </p:spPr>
        <p:txBody>
          <a:bodyPr wrap="square" lIns="0" rIns="0" tIns="18288" bIns="18288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9666A"/>
                </a:solidFill>
                <a:latin typeface="Noto Sans CJK SC"/>
              </a:rPr>
              <a:t>Academic PPT Skill · v0.1.0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